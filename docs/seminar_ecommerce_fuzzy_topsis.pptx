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Closeness</c:v>
                </c:pt>
              </c:strCache>
            </c:strRef>
          </c:tx>
          <c:spPr>
            <a:solidFill>
              <a:srgbClr val="127A76"/>
            </a:solidFill>
          </c:spPr>
          <c:cat>
            <c:strRef>
              <c:f>Sheet1!$A$2:$A$7</c:f>
              <c:strCache>
                <c:ptCount val="6"/>
                <c:pt idx="0">
                  <c:v>B1</c:v>
                </c:pt>
                <c:pt idx="1">
                  <c:v>B4</c:v>
                </c:pt>
                <c:pt idx="2">
                  <c:v>B5</c:v>
                </c:pt>
                <c:pt idx="3">
                  <c:v>B6</c:v>
                </c:pt>
                <c:pt idx="4">
                  <c:v>B2</c:v>
                </c:pt>
                <c:pt idx="5">
                  <c:v>B3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0.62</c:v>
                </c:pt>
                <c:pt idx="1">
                  <c:v>0.583</c:v>
                </c:pt>
                <c:pt idx="2">
                  <c:v>0.582</c:v>
                </c:pt>
                <c:pt idx="3">
                  <c:v>0.53</c:v>
                </c:pt>
                <c:pt idx="4">
                  <c:v>0.51</c:v>
                </c:pt>
                <c:pt idx="5">
                  <c:v>0.5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1005840"/>
            <a:ext cx="10972800" cy="4297680"/>
          </a:xfrm>
          <a:prstGeom prst="roundRect">
            <a:avLst/>
          </a:prstGeom>
          <a:solidFill>
            <a:srgbClr val="ECF5F7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600"/>
              </a:spcAft>
              <a:defRPr sz="2400" b="1">
                <a:solidFill>
                  <a:srgbClr val="0E3653"/>
                </a:solidFill>
              </a:defRPr>
            </a:pPr>
            <a:r>
              <a:t>Evaluating consumers benefits in electronic-commerce using fuzzy TOPSIS</a:t>
            </a:r>
          </a:p>
          <a:p>
            <a:pPr algn="ctr">
              <a:spcAft>
                <a:spcPts val="1200"/>
              </a:spcAft>
              <a:defRPr sz="2000">
                <a:solidFill>
                  <a:srgbClr val="127A76"/>
                </a:solidFill>
              </a:defRPr>
            </a:pPr>
            <a:r>
              <a:t>Seminar bai bao khoa hoc</a:t>
            </a:r>
          </a:p>
          <a:p>
            <a:pPr algn="ctr">
              <a:spcAft>
                <a:spcPts val="2000"/>
              </a:spcAft>
              <a:defRPr sz="1400">
                <a:solidFill>
                  <a:srgbClr val="667085"/>
                </a:solidFill>
              </a:defRPr>
            </a:pPr>
            <a:r>
              <a:t>Tac gia: Rakesh Kumar va cong su | Tap chi: Results in Control and Optimization | 2025</a:t>
            </a:r>
          </a:p>
          <a:p>
            <a:pPr algn="ctr"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Nguoi trinh bay: ........................................</a:t>
            </a:r>
          </a:p>
          <a:p>
            <a:pPr algn="ctr">
              <a:defRPr sz="1800">
                <a:solidFill>
                  <a:srgbClr val="2D3748"/>
                </a:solidFill>
              </a:defRPr>
            </a:pPr>
            <a:r>
              <a:t>Lop: ........................................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532120"/>
            <a:ext cx="3749039" cy="502920"/>
          </a:xfrm>
          <a:prstGeom prst="roundRect">
            <a:avLst/>
          </a:prstGeom>
          <a:solidFill>
            <a:srgbClr val="E16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Thong diep chinh: usability la yeu to duoc uu tien cao nhat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 tai lieu: backend/Seminar.pdf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Boi canh va ly do chon de 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040880" cy="402336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Thuong mai dien tu phat trien manh trong ky nguyen so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Nguoi dung co rat nhieu lua chon, muc do canh tranh rat cao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Website kem trai nghiem se mat khach hang rat nhanh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Can xac dinh yeu to nao tao loi ich lon nhat cho nguoi tieu dung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920240"/>
            <a:ext cx="3200400" cy="201168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27A76"/>
                </a:solidFill>
              </a:defRPr>
            </a:pPr>
            <a:r>
              <a:t>Bai toan cot loi: lam gi de khach hang o lai va mua hang?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Muc tieu nghien cuu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040880" cy="402336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Xac dinh cac yeu to anh huong den loi ich cua nguoi tieu dung tren website e-commerce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Danh gia 6 loi ich cu the duoi 5 nhom tieu chi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Su dung Fuzzy TOPSIS de xep hang muc do uu tien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920240"/>
            <a:ext cx="3200400" cy="201168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27A76"/>
                </a:solidFill>
              </a:defRPr>
            </a:pPr>
            <a:r>
              <a:t>Cau hoi nghien cuu: yeu to nao can duoc uu tien nhat?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Khung danh gia cua bai bao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5"/>
                </a:solidFill>
              </a:defRPr>
            </a:pPr>
            <a:r>
              <a:t>5 nhom tieu chi va 6 loi ich duoc xep hang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4480560" cy="4160520"/>
          </a:xfrm>
          <a:prstGeom prst="roundRect">
            <a:avLst/>
          </a:prstGeom>
          <a:solidFill>
            <a:srgbClr val="F0F8FA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E3653"/>
                </a:solidFill>
              </a:defRPr>
            </a:pPr>
            <a:r>
              <a:t>5 nhom tieu chi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Usability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Service quality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Information quality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Online trust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Technology acceptance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783080"/>
            <a:ext cx="5669280" cy="4160520"/>
          </a:xfrm>
          <a:prstGeom prst="roundRect">
            <a:avLst/>
          </a:prstGeom>
          <a:solidFill>
            <a:srgbClr val="FFF8F1"/>
          </a:solidFill>
          <a:ln>
            <a:solidFill>
              <a:srgbClr val="E1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E3653"/>
                </a:solidFill>
              </a:defRPr>
            </a:pPr>
            <a:r>
              <a:t>6 loi ich duoc danh gia</a:t>
            </a:r>
          </a:p>
          <a:p>
            <a:pPr>
              <a:defRPr sz="1700">
                <a:solidFill>
                  <a:srgbClr val="2D3748"/>
                </a:solidFill>
              </a:defRPr>
            </a:pPr>
            <a:r>
              <a:t>B1: Chuc nang, hieu qua, tim kiem</a:t>
            </a:r>
          </a:p>
          <a:p>
            <a:pPr>
              <a:defRPr sz="1700">
                <a:solidFill>
                  <a:srgbClr val="2D3748"/>
                </a:solidFill>
              </a:defRPr>
            </a:pPr>
            <a:r>
              <a:t>B2: Phan hoi dich vu giua khach hang va doanh nghiep</a:t>
            </a:r>
          </a:p>
          <a:p>
            <a:pPr>
              <a:defRPr sz="1700">
                <a:solidFill>
                  <a:srgbClr val="2D3748"/>
                </a:solidFill>
              </a:defRPr>
            </a:pPr>
            <a:r>
              <a:t>B3: Thong tin huu ich, chinh xac, kip thoi</a:t>
            </a:r>
          </a:p>
          <a:p>
            <a:pPr>
              <a:defRPr sz="1700">
                <a:solidFill>
                  <a:srgbClr val="2D3748"/>
                </a:solidFill>
              </a:defRPr>
            </a:pPr>
            <a:r>
              <a:t>B4: Co che tuong tac va phan hoi hai chieu</a:t>
            </a:r>
          </a:p>
          <a:p>
            <a:pPr>
              <a:defRPr sz="1700">
                <a:solidFill>
                  <a:srgbClr val="2D3748"/>
                </a:solidFill>
              </a:defRPr>
            </a:pPr>
            <a:r>
              <a:t>B5: Giao dung san pham nhu mo ta</a:t>
            </a:r>
          </a:p>
          <a:p>
            <a:pPr>
              <a:defRPr sz="1700">
                <a:solidFill>
                  <a:srgbClr val="2D3748"/>
                </a:solidFill>
              </a:defRPr>
            </a:pPr>
            <a:r>
              <a:t>B6: Cong nghe de tiep can, tiet kiem chi phi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Thiet ke nghien cuu va Fuzzy TOPSIS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2103120" cy="320040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0E3653"/>
                </a:solidFill>
              </a:defRPr>
            </a:pPr>
            <a:r>
              <a:t>Du lieu</a:t>
            </a:r>
          </a:p>
          <a:p>
            <a:pPr algn="ctr">
              <a:defRPr sz="1500">
                <a:solidFill>
                  <a:srgbClr val="2D3748"/>
                </a:solidFill>
              </a:defRPr>
            </a:pPr>
            <a:r>
              <a:t>Phong van 21 chuyen gia trong 3 nhom ra quyet dinh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874519"/>
            <a:ext cx="2103120" cy="320040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0E3653"/>
                </a:solidFill>
              </a:defRPr>
            </a:pPr>
            <a:r>
              <a:t>Trong so</a:t>
            </a:r>
          </a:p>
          <a:p>
            <a:pPr algn="ctr">
              <a:defRPr sz="1500">
                <a:solidFill>
                  <a:srgbClr val="2D3748"/>
                </a:solidFill>
              </a:defRPr>
            </a:pPr>
            <a:r>
              <a:t>Gan muc do quan trong bang thang ngon ngu 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874519"/>
            <a:ext cx="2103120" cy="320040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0E3653"/>
                </a:solidFill>
              </a:defRPr>
            </a:pPr>
            <a:r>
              <a:t>Ma tran mo</a:t>
            </a:r>
          </a:p>
          <a:p>
            <a:pPr algn="ctr">
              <a:defRPr sz="1500">
                <a:solidFill>
                  <a:srgbClr val="2D3748"/>
                </a:solidFill>
              </a:defRPr>
            </a:pPr>
            <a:r>
              <a:t>Lap ma tran quyet dinh va chuan hoa du lieu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874519"/>
            <a:ext cx="2103120" cy="320040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0E3653"/>
                </a:solidFill>
              </a:defRPr>
            </a:pPr>
            <a:r>
              <a:t>So sanh</a:t>
            </a:r>
          </a:p>
          <a:p>
            <a:pPr algn="ctr">
              <a:defRPr sz="1500">
                <a:solidFill>
                  <a:srgbClr val="2D3748"/>
                </a:solidFill>
              </a:defRPr>
            </a:pPr>
            <a:r>
              <a:t>Xac dinh FPIS va FNIS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59" y="1874519"/>
            <a:ext cx="2103120" cy="3200400"/>
          </a:xfrm>
          <a:prstGeom prst="roundRect">
            <a:avLst/>
          </a:prstGeom>
          <a:solidFill>
            <a:srgbClr val="FFF2EB"/>
          </a:solidFill>
          <a:ln>
            <a:solidFill>
              <a:srgbClr val="E1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0E3653"/>
                </a:solidFill>
              </a:defRPr>
            </a:pPr>
            <a:r>
              <a:t>Xep hang</a:t>
            </a:r>
          </a:p>
          <a:p>
            <a:pPr algn="ctr">
              <a:defRPr sz="1500">
                <a:solidFill>
                  <a:srgbClr val="2D3748"/>
                </a:solidFill>
              </a:defRPr>
            </a:pPr>
            <a:r>
              <a:t>Tinh closeness coefficient de thu duoc thu tu uu tien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Dau vao va ky hieu cua mo hinh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5"/>
                </a:solidFill>
              </a:defRPr>
            </a:pPr>
            <a:r>
              <a:t>Can noi ro C la tieu chi, B la loi ich duoc xep hang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303520" cy="4206240"/>
          </a:xfrm>
          <a:prstGeom prst="roundRect">
            <a:avLst/>
          </a:prstGeom>
          <a:solidFill>
            <a:srgbClr val="F0F8FA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E3653"/>
                </a:solidFill>
              </a:defRPr>
            </a:pPr>
            <a:r>
              <a:t>Du lieu dau vao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21 chuyen gia duoc chia thanh 3 nhom DM1, DM2, DM3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5 tieu chi C1 den C5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6 loi ich B1 den B6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Table 4 ghi cac danh gia ngon ngu cho tung cap Cj - Bi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83080"/>
            <a:ext cx="5303520" cy="4206240"/>
          </a:xfrm>
          <a:prstGeom prst="roundRect">
            <a:avLst/>
          </a:prstGeom>
          <a:solidFill>
            <a:srgbClr val="FFF8F1"/>
          </a:solidFill>
          <a:ln>
            <a:solidFill>
              <a:srgbClr val="E1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E3653"/>
                </a:solidFill>
              </a:defRPr>
            </a:pPr>
            <a:r>
              <a:t>Y nghia ky hieu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C1: Usability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C2: Service Quality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C3: Information Quality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C4: Online Trust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C5: Technology Acceptance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B1 den B6 la 6 loi ich duoc dua vao xep hang cuoi cung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532120"/>
            <a:ext cx="10744200" cy="50292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3653"/>
                </a:solidFill>
              </a:defRPr>
            </a:pPr>
            <a:r>
              <a:t>Hay nhan manh: bai bao xep hang B1 den B6, khong phai xep hang C1 den C5.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Step 1: determined the weightage of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5"/>
                </a:solidFill>
              </a:defRPr>
            </a:pPr>
            <a:r>
              <a:t>Tac gia bien danh gia ngon ngu thanh trong so mo tam giac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303520" cy="4206240"/>
          </a:xfrm>
          <a:prstGeom prst="roundRect">
            <a:avLst/>
          </a:prstGeom>
          <a:solidFill>
            <a:srgbClr val="F0F8FA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E3653"/>
                </a:solidFill>
              </a:defRPr>
            </a:pPr>
            <a:r>
              <a:t>Muc tieu cua Step 1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Gan trong so cho tung tieu chi bang ngon ngu danh gia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Khong dung so cung ngay tu dau vi y kien chuyen gia co do mo ho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Table 3 la bang quy doi tu ngon ngu sang fuzzy triangular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83080"/>
            <a:ext cx="5303520" cy="4206240"/>
          </a:xfrm>
          <a:prstGeom prst="roundRect">
            <a:avLst/>
          </a:prstGeom>
          <a:solidFill>
            <a:srgbClr val="FFF8F1"/>
          </a:solidFill>
          <a:ln>
            <a:solidFill>
              <a:srgbClr val="E1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E3653"/>
                </a:solidFill>
              </a:defRPr>
            </a:pPr>
            <a:r>
              <a:t>Thang do ngon ngu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Very Low = (0, 0, 0.1)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Low = (0, 0.1, 0.3)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Medium Low = (0.1, 0.3, 0.5)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Medium = (0.3, 0.5, 0.7)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Medium High = (0.5, 0.7, 0.9)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High = (0.7, 0.9, 1.0)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Very High = (0.9, 1.0, 1.0)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532120"/>
            <a:ext cx="10744200" cy="50292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3653"/>
                </a:solidFill>
              </a:defRPr>
            </a:pPr>
            <a:r>
              <a:t>Y nghia: moi muc danh gia duoc mo hinh hoa bang bo ba (min, trung tam, max).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Step 2: Construct fuzzy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5"/>
                </a:solidFill>
              </a:defRPr>
            </a:pPr>
            <a:r>
              <a:t>Day la buoc tong hop y kien DM1, DM2, DM3 thanh mot ma tran 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303520" cy="4206240"/>
          </a:xfrm>
          <a:prstGeom prst="roundRect">
            <a:avLst/>
          </a:prstGeom>
          <a:solidFill>
            <a:srgbClr val="F0F8FA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E3653"/>
                </a:solidFill>
              </a:defRPr>
            </a:pPr>
            <a:r>
              <a:t>Tac gia lam gi?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Lay danh gia ngon ngu cua 3 nhom chuyen gia tu Table 4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Doi moi danh gia thanh fuzzy number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Tong hop lai cho tung cap Cj - Bi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Ket qua sau tong hop la Decision Matrix trong Table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83080"/>
            <a:ext cx="5303520" cy="4206240"/>
          </a:xfrm>
          <a:prstGeom prst="roundRect">
            <a:avLst/>
          </a:prstGeom>
          <a:solidFill>
            <a:srgbClr val="FFF8F1"/>
          </a:solidFill>
          <a:ln>
            <a:solidFill>
              <a:srgbClr val="E1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E3653"/>
                </a:solidFill>
              </a:defRPr>
            </a:pPr>
            <a:r>
              <a:t>Cong thuc va cach doc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xij = (1/k) x (xij1 + xij2 + xij3 + ...)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xij la gia tri tong hop cho loi ich i theo tieu chi j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k la so danh gia duoc lay trung binh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Moi o trong Table 5 la mot bo so mo tam giac dai dien cho y kien tong 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532120"/>
            <a:ext cx="10744200" cy="50292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3653"/>
                </a:solidFill>
              </a:defRPr>
            </a:pPr>
            <a:r>
              <a:t>Co the giai thich ngan gon: Step 2 bien y kien roi rac thanh du lieu tinh toan duoc.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Step 3: Normalise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5"/>
                </a:solidFill>
              </a:defRPr>
            </a:pPr>
            <a:r>
              <a:t>Sau khi co decision matrix, tac gia dua cac gia tri ve cung thang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303520" cy="4206240"/>
          </a:xfrm>
          <a:prstGeom prst="roundRect">
            <a:avLst/>
          </a:prstGeom>
          <a:solidFill>
            <a:srgbClr val="F0F8FA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E3653"/>
                </a:solidFill>
              </a:defRPr>
            </a:pPr>
            <a:r>
              <a:t>Cong thuc chuan hoa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rij = (aij/cj+, bij/cj+, cij/cj+)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cj+ la gia tri can tren lon nhat cua cot j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Ket qua cua buoc nay nam trong Table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83080"/>
            <a:ext cx="5303520" cy="4206240"/>
          </a:xfrm>
          <a:prstGeom prst="roundRect">
            <a:avLst/>
          </a:prstGeom>
          <a:solidFill>
            <a:srgbClr val="FFF8F1"/>
          </a:solidFill>
          <a:ln>
            <a:solidFill>
              <a:srgbClr val="E1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E3653"/>
                </a:solidFill>
              </a:defRPr>
            </a:pPr>
            <a:r>
              <a:t>Y nghia cua Step 3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Loai bo khac biet ve thang do giua cac tieu chi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Giup cac cot co the duoc so sanh truc tiep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Gia tri gan 1 cho thay phuong an tot hon theo tieu chi do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Day la buoc tien xu ly truoc khi tim FPIS va FNIS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532120"/>
            <a:ext cx="10744200" cy="50292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3653"/>
                </a:solidFill>
              </a:defRPr>
            </a:pPr>
            <a:r>
              <a:t>Neu khong chuan hoa, viec so sanh khoang cach den nghiem ly tuong se khong cong bang.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Step 4: Weightage matrix, FPIS va FNIS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5"/>
                </a:solidFill>
              </a:defRPr>
            </a:pPr>
            <a:r>
              <a:t>Day la phan cot loi cua TOPSIS: xac dinh diem tot nhat va xau nhat de tham chieu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303520" cy="4206240"/>
          </a:xfrm>
          <a:prstGeom prst="roundRect">
            <a:avLst/>
          </a:prstGeom>
          <a:solidFill>
            <a:srgbClr val="F0F8FA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E3653"/>
                </a:solidFill>
              </a:defRPr>
            </a:pPr>
            <a:r>
              <a:t>Tac gia lam gi?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Tu ma tran chuan hoa, tao Weightage Matrix trong Table 7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Xac dinh FPIS = Fuzzy Positive Ideal Solution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Xac dinh FNIS = Fuzzy Negative Ideal Solution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Day la hai moc ly tuong de do khoang cach cua moi loi ich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83080"/>
            <a:ext cx="5303520" cy="4206240"/>
          </a:xfrm>
          <a:prstGeom prst="roundRect">
            <a:avLst/>
          </a:prstGeom>
          <a:solidFill>
            <a:srgbClr val="FFF8F1"/>
          </a:solidFill>
          <a:ln>
            <a:solidFill>
              <a:srgbClr val="E1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E3653"/>
                </a:solidFill>
              </a:defRPr>
            </a:pPr>
            <a:r>
              <a:t>Cach giai thich truoc lop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FPIS la diem ly tuong tot nhat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FNIS la diem ly tuong xau nhat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Phuong an nao gan FPIS va xa FNIS hon se duoc danh gia cao hon</a:t>
            </a:r>
          </a:p>
          <a:p>
            <a:pPr>
              <a:spcAft>
                <a:spcPts val="600"/>
              </a:spcAft>
              <a:defRPr sz="1500">
                <a:solidFill>
                  <a:srgbClr val="2D3748"/>
                </a:solidFill>
              </a:defRPr>
            </a:pPr>
            <a:r>
              <a:t>Sau buoc nay, bai bao chuyen sang tinh khoang cach cho tung B1 den B6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532120"/>
            <a:ext cx="10744200" cy="50292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3653"/>
                </a:solidFill>
              </a:defRPr>
            </a:pPr>
            <a:r>
              <a:t>Noi ngan gon: TOPSIS khong hoi ai tot tuyet doi, ma hoi ai gan diem tot nhat va xa diem xau nhat nhat.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Step 5: Closeness from FPIS and FNIS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5"/>
                </a:solidFill>
              </a:defRPr>
            </a:pPr>
            <a:r>
              <a:t>Gia tri closeness coefficient la diem so cuoi cung de xep hang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4754880" cy="210312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E3653"/>
                </a:solidFill>
              </a:defRPr>
            </a:pPr>
            <a:r>
              <a:t>CCi = d-i / (d+i + d-i)</a:t>
            </a:r>
          </a:p>
          <a:p>
            <a:pPr algn="ctr">
              <a:defRPr sz="1600">
                <a:solidFill>
                  <a:srgbClr val="2D3748"/>
                </a:solidFill>
              </a:defRPr>
            </a:pPr>
            <a:r>
              <a:t>CC cang gan 1 thi loi ich do cang gan nghiem tot nhat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828800"/>
            <a:ext cx="5303520" cy="3566160"/>
          </a:xfrm>
          <a:prstGeom prst="roundRect">
            <a:avLst/>
          </a:prstGeom>
          <a:solidFill>
            <a:srgbClr val="FFF8F1"/>
          </a:solidFill>
          <a:ln>
            <a:solidFill>
              <a:srgbClr val="E1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0E3653"/>
                </a:solidFill>
              </a:defRPr>
            </a:pPr>
            <a:r>
              <a:t>Cach doc Table 8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d+i: khoang cach tu loi ich i den FPIS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d-i: khoang cach tu loi ich i den FNIS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B1 co d+ = 1.95 va d- = 3.21 nen CC xap xi 0.620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Neu mot loi ich xa FNIS va khong qua xa FPIS, no se co hang 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Step 6: Order of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5"/>
                </a:solidFill>
              </a:defRPr>
            </a:pPr>
            <a:r>
              <a:t>Table 9 sap xep thu tu cuoi cung theo closeness coefficient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828800"/>
          <a:ext cx="65836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874519"/>
            <a:ext cx="3931920" cy="4069080"/>
          </a:xfrm>
          <a:prstGeom prst="roundRect">
            <a:avLst/>
          </a:prstGeom>
          <a:solidFill>
            <a:srgbClr val="FFF8F1"/>
          </a:solidFill>
          <a:ln>
            <a:solidFill>
              <a:srgbClr val="E1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E3653"/>
                </a:solidFill>
              </a:defRPr>
            </a:pPr>
            <a:r>
              <a:t>Cach ket luan tu bang rank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B1 dung dau: chuc nang, hieu qua, tim kiem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B4 dung thu 2: phan hoi hai chieu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B5 dung thu 3: giao dung mo ta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B3 xep cuoi: thong tin dung la quan trong, nhung khong phai loi ich duoc uu tien nhat trong mau nay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Ham y quan tri cho doanh nghiep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040880" cy="402336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Uu tien toi uu tim kiem, dieu huong va toc do thao tac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Tang co che phan hoi va tuong tac voi khach hang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Dam bao giao dung san pham de xay dung niem tin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Dau tu cong nghe de dung, de truy cap va hop ly ve chi phi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920240"/>
            <a:ext cx="3200400" cy="201168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27A76"/>
                </a:solidFill>
              </a:defRPr>
            </a:pPr>
            <a:r>
              <a:t>Thong diep quan tri: UX va niem tin canh tranh truoc ca gia 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Danh gia bai bao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4114800"/>
          </a:xfrm>
          <a:prstGeom prst="roundRect">
            <a:avLst/>
          </a:prstGeom>
          <a:solidFill>
            <a:srgbClr val="F0F8FA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0E3653"/>
                </a:solidFill>
              </a:defRPr>
            </a:pPr>
            <a:r>
              <a:t>Diem manh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De tai gan voi bai toan thuc te cua thuong mai dien tu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Khung tieu chi ro rang va de ung dung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Fuzzy TOPSIS phu hop voi du lieu danh gia mo 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828800"/>
            <a:ext cx="5303520" cy="4114800"/>
          </a:xfrm>
          <a:prstGeom prst="roundRect">
            <a:avLst/>
          </a:prstGeom>
          <a:solidFill>
            <a:srgbClr val="FFF8F1"/>
          </a:solidFill>
          <a:ln>
            <a:solidFill>
              <a:srgbClr val="E16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0E3653"/>
                </a:solidFill>
              </a:defRPr>
            </a:pPr>
            <a:r>
              <a:t>Han che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Mau nho: 21 chuyen gia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Pham vi chu yeu o An Do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Ket qua trinh bay chua that nhat quan giua tieu chi va loi ich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</a:defRPr>
            </a:pPr>
            <a:r>
              <a:t>Can kiem chung them bang du lieu nguoi dung thuc 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3653"/>
                </a:solidFill>
              </a:defRPr>
            </a:pPr>
            <a:r>
              <a:t>Huong nghien cuu tiep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040880" cy="402336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Mo rong mau nguoi dung thuc te thay vi chi dung chuyen gia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So sanh giua quoc gia, khu vuc va nhom san pham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Bo sung cac bien nhu gia, toc do giao hang, vung mien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Kiem chung lai mo hinh bang du lieu hanh vi mua sam thuc 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920240"/>
            <a:ext cx="3200400" cy="2011680"/>
          </a:xfrm>
          <a:prstGeom prst="roundRect">
            <a:avLst/>
          </a:prstGeom>
          <a:solidFill>
            <a:srgbClr val="E4F4F2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27A76"/>
                </a:solidFill>
              </a:defRPr>
            </a:pPr>
            <a:r>
              <a:t>Huong mo rong hop ly nhat: ket hop du lieu chuyen gia va du lieu nguoi dung.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9966960" cy="4480560"/>
          </a:xfrm>
          <a:prstGeom prst="roundRect">
            <a:avLst/>
          </a:prstGeom>
          <a:solidFill>
            <a:srgbClr val="ECF5F7"/>
          </a:solidFill>
          <a:ln>
            <a:solidFill>
              <a:srgbClr val="127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800"/>
              </a:spcAft>
              <a:defRPr sz="2800" b="1">
                <a:solidFill>
                  <a:srgbClr val="0E3653"/>
                </a:solidFill>
              </a:defRPr>
            </a:pPr>
            <a:r>
              <a:t>Ket luan</a:t>
            </a:r>
          </a:p>
          <a:p>
            <a:pPr algn="ctr">
              <a:spcAft>
                <a:spcPts val="1400"/>
              </a:spcAft>
              <a:defRPr sz="2000">
                <a:solidFill>
                  <a:srgbClr val="2D3748"/>
                </a:solidFill>
              </a:defRPr>
            </a:pPr>
            <a:r>
              <a:t>Bai bao cho thay usability la yeu to uu tien hang dau khi danh gia loi ich nguoi tieu dung tren website e-commerce.</a:t>
            </a:r>
          </a:p>
          <a:p>
            <a:pPr algn="ctr">
              <a:spcAft>
                <a:spcPts val="2600"/>
              </a:spcAft>
              <a:defRPr sz="2000">
                <a:solidFill>
                  <a:srgbClr val="2D3748"/>
                </a:solidFill>
              </a:defRPr>
            </a:pPr>
            <a:r>
              <a:t>Doanh nghiep can toi uu trai nghiem tim kiem, thao tac va co che phan hoi truoc khi ky vong tang chuyen doi.</a:t>
            </a:r>
          </a:p>
          <a:p>
            <a:pPr algn="ctr">
              <a:defRPr sz="2200" b="1">
                <a:solidFill>
                  <a:srgbClr val="E16D36"/>
                </a:solidFill>
              </a:defRPr>
            </a:pPr>
            <a:r>
              <a:t>Cam on thay/co va cac ban da lang nghe</a:t>
            </a:r>
            <a:br/>
            <a:r>
              <a:t>Q and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085"/>
                </a:solidFill>
              </a:defRPr>
            </a:pPr>
            <a:r>
              <a:t>Nguon: Kumar et al., Results in Control and Optimization (2025)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